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B2C0"/>
                </a:solidFill>
              </a:rPr>
              <a:t>BREAST CANCER ANALYTICS  •  MEDICAL AI DECK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7498080" y="-548640"/>
            <a:ext cx="2194560" cy="2194560"/>
          </a:xfrm>
          <a:prstGeom prst="ellipse">
            <a:avLst/>
          </a:prstGeom>
          <a:solidFill>
            <a:srgbClr val="1A0A0F"/>
          </a:solidFill>
          <a:ln w="12700">
            <a:solidFill>
              <a:srgbClr val="1A0A0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4114800"/>
            <a:ext cx="1463040" cy="1463040"/>
          </a:xfrm>
          <a:prstGeom prst="ellipse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502920"/>
            <a:ext cx="6583680" cy="4251960"/>
          </a:xfrm>
          <a:prstGeom prst="rect">
            <a:avLst/>
          </a:prstGeom>
          <a:solidFill>
            <a:srgbClr val="152238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7772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Breast Cancer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Predictive Analytics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Classification  •  Shrinkage Methods  •  Visualization  •  Diagnostics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395728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2C0"/>
                </a:solidFill>
              </a:rPr>
              <a:t>A full statistical analysis of the Wisconsin Diagnostic Breast Cancer dataset.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B2C0"/>
                </a:solidFill>
              </a:rPr>
              <a:t>Covering Problems 1–7: EDA, Logistic Regression, Ridge, LASSO, KNN, Naive Bayes.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426464" cy="777240"/>
          </a:xfrm>
          <a:prstGeom prst="rect">
            <a:avLst/>
          </a:prstGeom>
          <a:solidFill>
            <a:srgbClr val="152238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32826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2C0"/>
                </a:solidFill>
              </a:rPr>
              <a:t>Rows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67512" y="34655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569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130552" y="3218688"/>
            <a:ext cx="1426464" cy="777240"/>
          </a:xfrm>
          <a:prstGeom prst="rect">
            <a:avLst/>
          </a:prstGeom>
          <a:solidFill>
            <a:srgbClr val="15223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03704" y="32826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2C0"/>
                </a:solidFill>
              </a:rPr>
              <a:t>Predictors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203704" y="34655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30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666744" y="3218688"/>
            <a:ext cx="1426464" cy="777240"/>
          </a:xfrm>
          <a:prstGeom prst="rect">
            <a:avLst/>
          </a:prstGeom>
          <a:solidFill>
            <a:srgbClr val="152238"/>
          </a:solidFill>
          <a:ln w="19050">
            <a:solidFill>
              <a:srgbClr val="F4D0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39896" y="32826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2C0"/>
                </a:solidFill>
              </a:rPr>
              <a:t>Best Accuracy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739896" y="34655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97.4%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202936" y="3218688"/>
            <a:ext cx="1426464" cy="777240"/>
          </a:xfrm>
          <a:prstGeom prst="rect">
            <a:avLst/>
          </a:prstGeom>
          <a:solidFill>
            <a:srgbClr val="15223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76088" y="32826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2C0"/>
                </a:solidFill>
              </a:rPr>
              <a:t>Class Split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276088" y="34655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357/212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B2C0"/>
                </a:solidFill>
              </a:rPr>
              <a:t>BREAST CANCER ANALYTICS  •  CONTENTS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7498080" y="-365760"/>
            <a:ext cx="2011680" cy="2011680"/>
          </a:xfrm>
          <a:prstGeom prst="ellipse">
            <a:avLst/>
          </a:prstGeom>
          <a:solidFill>
            <a:srgbClr val="1A0A0F"/>
          </a:solidFill>
          <a:ln w="12700">
            <a:solidFill>
              <a:srgbClr val="1A0A0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3200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Analysis Overview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8412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C0"/>
                </a:solidFill>
              </a:rPr>
              <a:t>Click any section to explore the full analysis.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2011680" cy="1572768"/>
          </a:xfrm>
          <a:prstGeom prst="rect">
            <a:avLst/>
          </a:prstGeom>
          <a:solidFill>
            <a:srgbClr val="152238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88720"/>
            <a:ext cx="54864" cy="1572768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984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</a:rPr>
              <a:t>P1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5910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Data Understanding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190195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2C0"/>
                </a:solidFill>
              </a:rPr>
              <a:t>Structure, distributions,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B2C0"/>
                </a:solidFill>
              </a:rPr>
              <a:t>scatter plots, boxplots.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38912" y="25054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233C"/>
                </a:solidFill>
              </a:rPr>
              <a:t>View →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50592" y="1188720"/>
            <a:ext cx="2011680" cy="1572768"/>
          </a:xfrm>
          <a:prstGeom prst="rect">
            <a:avLst/>
          </a:prstGeom>
          <a:solidFill>
            <a:srgbClr val="15223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1188720"/>
            <a:ext cx="54864" cy="1572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12984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P2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33472" y="15910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Logistic vs Linear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633472" y="190195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2C0"/>
                </a:solidFill>
              </a:rPr>
              <a:t>Simple vs multiple regression.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B2C0"/>
                </a:solidFill>
              </a:rPr>
              <a:t>Model comparison.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615184" y="25054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View →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26864" y="1188720"/>
            <a:ext cx="2011680" cy="1572768"/>
          </a:xfrm>
          <a:prstGeom prst="rect">
            <a:avLst/>
          </a:prstGeom>
          <a:solidFill>
            <a:srgbClr val="152238"/>
          </a:solidFill>
          <a:ln w="12700">
            <a:solidFill>
              <a:srgbClr val="F4D03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26864" y="1188720"/>
            <a:ext cx="54864" cy="1572768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12984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D03F"/>
                </a:solidFill>
              </a:rPr>
              <a:t>P3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9744" y="15910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Multiple Regression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09744" y="190195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2C0"/>
                </a:solidFill>
              </a:rPr>
              <a:t>Full model, significant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B2C0"/>
                </a:solidFill>
              </a:rPr>
              <a:t>predictors, prediction.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91456" y="25054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D03F"/>
                </a:solidFill>
              </a:rPr>
              <a:t>View →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03136" y="1188720"/>
            <a:ext cx="2011680" cy="1572768"/>
          </a:xfrm>
          <a:prstGeom prst="rect">
            <a:avLst/>
          </a:prstGeom>
          <a:solidFill>
            <a:srgbClr val="152238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03136" y="1188720"/>
            <a:ext cx="54864" cy="15727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86016" y="12984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P4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86016" y="15910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Diagnostics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986016" y="190195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2C0"/>
                </a:solidFill>
              </a:rPr>
              <a:t>VIF, multicollinearity,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B2C0"/>
                </a:solidFill>
              </a:rPr>
              <a:t>outliers &amp; influence.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967728" y="25054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</a:rPr>
              <a:t>View →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2926080"/>
            <a:ext cx="2011680" cy="1572768"/>
          </a:xfrm>
          <a:prstGeom prst="rect">
            <a:avLst/>
          </a:prstGeom>
          <a:solidFill>
            <a:srgbClr val="15223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2926080"/>
            <a:ext cx="54864" cy="1572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0358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P5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33284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Model Selection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36393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2C0"/>
                </a:solidFill>
              </a:rPr>
              <a:t>Train/test MSE,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B2C0"/>
                </a:solidFill>
              </a:rPr>
              <a:t>cross-validation.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38912" y="42428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View →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450592" y="2926080"/>
            <a:ext cx="2011680" cy="1572768"/>
          </a:xfrm>
          <a:prstGeom prst="rect">
            <a:avLst/>
          </a:prstGeom>
          <a:solidFill>
            <a:srgbClr val="152238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450592" y="2926080"/>
            <a:ext cx="54864" cy="1572768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33472" y="30358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</a:rPr>
              <a:t>P6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633472" y="33284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Shrinkage Methods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2633472" y="36393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2C0"/>
                </a:solidFill>
              </a:rPr>
              <a:t>Ridge &amp; LASSO paths.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B2C0"/>
                </a:solidFill>
              </a:rPr>
              <a:t>Feature selection.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615184" y="42428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233C"/>
                </a:solidFill>
              </a:rPr>
              <a:t>View →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26864" y="2926080"/>
            <a:ext cx="2011680" cy="1572768"/>
          </a:xfrm>
          <a:prstGeom prst="rect">
            <a:avLst/>
          </a:prstGeom>
          <a:solidFill>
            <a:srgbClr val="152238"/>
          </a:solidFill>
          <a:ln w="12700">
            <a:solidFill>
              <a:srgbClr val="F4D03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26864" y="2926080"/>
            <a:ext cx="54864" cy="1572768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9744" y="30358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D03F"/>
                </a:solidFill>
              </a:rPr>
              <a:t>P7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09744" y="33284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Classification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809744" y="36393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2C0"/>
                </a:solidFill>
              </a:rPr>
              <a:t>Logistic, KNN, Naive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B2C0"/>
                </a:solidFill>
              </a:rPr>
              <a:t>Bayes + ROC curves.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791456" y="42428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D03F"/>
                </a:solidFill>
              </a:rPr>
              <a:t>View →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803136" y="2926080"/>
            <a:ext cx="2011680" cy="1572768"/>
          </a:xfrm>
          <a:prstGeom prst="rect">
            <a:avLst/>
          </a:prstGeom>
          <a:solidFill>
            <a:srgbClr val="152238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803136" y="2926080"/>
            <a:ext cx="54864" cy="15727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86016" y="30358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★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986016" y="33284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Conclusion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986016" y="36393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2C0"/>
                </a:solidFill>
              </a:rPr>
              <a:t>Best model &amp; key findings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B2C0"/>
                </a:solidFill>
              </a:rPr>
              <a:t>summarised.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967728" y="42428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DE80"/>
                </a:solidFill>
              </a:rPr>
              <a:t>View →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B2C0"/>
                </a:solidFill>
              </a:rPr>
              <a:t>BREAST CANCER ANALYTICS  •  PROBLEM 1 – DATA UNDERSTANDING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Dataset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795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C0"/>
                </a:solidFill>
              </a:rPr>
              <a:t>Wisconsin Diagnostic Breast Cancer (WDBC) Dataset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3657600" cy="3474720"/>
          </a:xfrm>
          <a:prstGeom prst="rect">
            <a:avLst/>
          </a:prstGeom>
          <a:solidFill>
            <a:srgbClr val="15223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54864" cy="3474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98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Dataset Facts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2C0"/>
                </a:solidFill>
              </a:rPr>
              <a:t>Observations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11680" y="1691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569 patients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103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2C0"/>
                </a:solidFill>
              </a:rPr>
              <a:t>Features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1168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30 numeric predictors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514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2C0"/>
                </a:solidFill>
              </a:rPr>
              <a:t>Response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11680" y="2514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diagnosis (B / M)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926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2C0"/>
                </a:solidFill>
              </a:rPr>
              <a:t>Benign (B)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11680" y="2926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357 cases  (62.7%)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337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2C0"/>
                </a:solidFill>
              </a:rPr>
              <a:t>Malignant (M)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11680" y="3337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212 cases  (37.3%)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3749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2C0"/>
                </a:solidFill>
              </a:rPr>
              <a:t>Missing Values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011680" y="3749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None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4160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2C0"/>
                </a:solidFill>
              </a:rPr>
              <a:t>Feature Groups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011680" y="4160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Mean, SE, Worst × 10</a:t>
            </a:r>
            <a:endParaRPr lang="en-US" sz="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115568"/>
            <a:ext cx="46634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B2C0"/>
                </a:solidFill>
              </a:rPr>
              <a:t>BREAST CANCER ANALYTICS  •  PROBLEM 1 – EDA &amp; OUTLIER DETECTION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Feature Distributions &amp; Outliers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68680"/>
            <a:ext cx="868680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4663440"/>
            <a:ext cx="8686800" cy="384048"/>
          </a:xfrm>
          <a:prstGeom prst="rect">
            <a:avLst/>
          </a:prstGeom>
          <a:solidFill>
            <a:srgbClr val="15223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46817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0"/>
                </a:solidFill>
              </a:rPr>
              <a:t>Key Finding: Malignant tumors show higher median values and greater spread across all 6 features. Yellow dots are outliers — mostly extreme Malignant cases with unusually large cell areas.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B2C0"/>
                </a:solidFill>
              </a:rPr>
              <a:t>BREAST CANCER ANALYTICS  •  PROBLEM 4 – MULTICOLLINEARITY CHECK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Correlation Heatmap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68680"/>
            <a:ext cx="548640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97880" y="868680"/>
            <a:ext cx="3017520" cy="4114800"/>
          </a:xfrm>
          <a:prstGeom prst="rect">
            <a:avLst/>
          </a:prstGeom>
          <a:solidFill>
            <a:srgbClr val="152238"/>
          </a:solidFill>
          <a:ln w="12700">
            <a:solidFill>
              <a:srgbClr val="F4D03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97880" y="868680"/>
            <a:ext cx="54864" cy="411480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80760" y="1051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D03F"/>
                </a:solidFill>
              </a:rPr>
              <a:t>Multicollinearity Notes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080760" y="14813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D03F"/>
                </a:solidFill>
              </a:rPr>
              <a:t>High correlation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080760" y="1737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0"/>
                </a:solidFill>
              </a:rPr>
              <a:t>radius, area, and perimeter are nearly collinear (r &gt; 0.98)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080760" y="232257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D03F"/>
                </a:solidFill>
              </a:rPr>
              <a:t>Impact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080760" y="25786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0"/>
                </a:solidFill>
              </a:rPr>
              <a:t>Causes inflated VIF values and unstable regression coefficients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80760" y="316382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D03F"/>
                </a:solidFill>
              </a:rPr>
              <a:t>Solution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080760" y="341985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0"/>
                </a:solidFill>
              </a:rPr>
              <a:t>Ridge / LASSO shrinkage handles multicollinearity by penalizing coefficients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080760" y="40050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D03F"/>
                </a:solidFill>
              </a:rPr>
              <a:t>Diagnosis target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080760" y="426110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0"/>
                </a:solidFill>
              </a:rPr>
              <a:t>Strongest predictors: concave points_worst (r=0.79), perimeter_worst (r=0.78)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B2C0"/>
                </a:solidFill>
              </a:rPr>
              <a:t>BREAST CANCER ANALYTICS  •  PROBLEM 6 – SHRINKAGE METHODS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Ridge &amp; LASSO Regression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68680"/>
            <a:ext cx="502920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94960" y="868680"/>
            <a:ext cx="3474720" cy="3200400"/>
          </a:xfrm>
          <a:prstGeom prst="rect">
            <a:avLst/>
          </a:prstGeom>
          <a:solidFill>
            <a:srgbClr val="152238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394960" y="868680"/>
            <a:ext cx="54864" cy="320040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77840" y="1005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</a:rPr>
              <a:t>Ridge vs LASSO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532120" y="1325880"/>
            <a:ext cx="102412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D03F"/>
                </a:solidFill>
              </a:rPr>
              <a:t>Property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583680" y="1325880"/>
            <a:ext cx="102412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D03F"/>
                </a:solidFill>
              </a:rPr>
              <a:t>Ridge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635240" y="1325880"/>
            <a:ext cx="102412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D03F"/>
                </a:solidFill>
              </a:rPr>
              <a:t>LASSO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32120" y="1673352"/>
            <a:ext cx="102412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Penalty type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583680" y="1673352"/>
            <a:ext cx="102412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L2 (squared)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635240" y="1673352"/>
            <a:ext cx="102412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L1 (absolute)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532120" y="2020824"/>
            <a:ext cx="102412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Coefs → 0?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583680" y="2020824"/>
            <a:ext cx="102412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Never exactly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635240" y="2020824"/>
            <a:ext cx="102412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Yes (sparse)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532120" y="2368296"/>
            <a:ext cx="102412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Feature select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583680" y="2368296"/>
            <a:ext cx="102412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No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635240" y="2368296"/>
            <a:ext cx="102412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Yes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532120" y="2715768"/>
            <a:ext cx="102412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Best for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583680" y="2715768"/>
            <a:ext cx="102412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All features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relevant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635240" y="2715768"/>
            <a:ext cx="102412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Many irrelevant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features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532120" y="3063240"/>
            <a:ext cx="102412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WDBC result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583680" y="3063240"/>
            <a:ext cx="102412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Coefficients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shrunk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635240" y="3063240"/>
            <a:ext cx="102412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23 / 30 features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selected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182880" y="4160520"/>
            <a:ext cx="8732520" cy="594360"/>
          </a:xfrm>
          <a:prstGeom prst="rect">
            <a:avLst/>
          </a:prstGeom>
          <a:solidFill>
            <a:srgbClr val="15223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2C0"/>
                </a:solidFill>
              </a:rPr>
              <a:t>LASSO Finding:  At optimal λ = 0.001 (5-fold CV), LASSO selects 23 of 30 features.  Red bars = features increasing malignancy risk.  Blue bars = protective features.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B2C0"/>
                </a:solidFill>
              </a:rPr>
              <a:t>BREAST CANCER ANALYTICS  •  PROBLEM 7 – CLASSIFICATION METHODS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Classification Results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41248"/>
            <a:ext cx="5029200" cy="2880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94960" y="841248"/>
            <a:ext cx="3520440" cy="2880360"/>
          </a:xfrm>
          <a:prstGeom prst="rect">
            <a:avLst/>
          </a:prstGeom>
          <a:solidFill>
            <a:srgbClr val="15223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394960" y="841248"/>
            <a:ext cx="54864" cy="2880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77840" y="9875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</a:rPr>
              <a:t>Model Performance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532120" y="1353312"/>
            <a:ext cx="111556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4D03F"/>
                </a:solidFill>
              </a:rPr>
              <a:t>Model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675120" y="1353312"/>
            <a:ext cx="111556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D03F"/>
                </a:solidFill>
              </a:rPr>
              <a:t>Acc.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818120" y="1353312"/>
            <a:ext cx="111556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D03F"/>
                </a:solidFill>
              </a:rPr>
              <a:t>AUC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532120" y="1737360"/>
            <a:ext cx="111556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Logistic Reg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675120" y="1737360"/>
            <a:ext cx="111556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97.4%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818120" y="1737360"/>
            <a:ext cx="111556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0.997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532120" y="2121408"/>
            <a:ext cx="111556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KNN (k=5)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675120" y="2121408"/>
            <a:ext cx="111556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94.7%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818120" y="2121408"/>
            <a:ext cx="111556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0.982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532120" y="2505456"/>
            <a:ext cx="111556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Naive Bayes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675120" y="2505456"/>
            <a:ext cx="111556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96.5%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818120" y="2505456"/>
            <a:ext cx="111556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0.997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532120" y="2971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D03F"/>
                </a:solidFill>
              </a:rPr>
              <a:t>★ Best: Logistic Regression</a:t>
            </a:r>
            <a:endParaRPr lang="en-US" sz="9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822192"/>
            <a:ext cx="4114800" cy="1207008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822192"/>
            <a:ext cx="434340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B2C0"/>
                </a:solidFill>
              </a:rPr>
              <a:t>BREAST CANCER ANALYTICS  •  PROBLEM 7 – ROC CURVES &amp; CONFUSION MATRIX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 Evaluation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68680"/>
            <a:ext cx="5120640" cy="384048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868680"/>
            <a:ext cx="3383280" cy="38404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82880" y="4736592"/>
            <a:ext cx="8732520" cy="320040"/>
          </a:xfrm>
          <a:prstGeom prst="rect">
            <a:avLst/>
          </a:prstGeom>
          <a:solidFill>
            <a:srgbClr val="152238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476402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2C0"/>
                </a:solidFill>
              </a:rPr>
              <a:t>Logistic Reg: only 3 errors (1 FP + 2 FN) on 114 test cases. AUC = 0.997 means near-perfect class separation.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B2C0"/>
                </a:solidFill>
              </a:rPr>
              <a:t>BREAST CANCER ANALYTICS  •  PROBLEM 1 – SCATTER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Feature Scatter: Radius vs Area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530352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06440" y="868680"/>
            <a:ext cx="3108960" cy="3657600"/>
          </a:xfrm>
          <a:prstGeom prst="rect">
            <a:avLst/>
          </a:prstGeom>
          <a:solidFill>
            <a:srgbClr val="152238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06440" y="868680"/>
            <a:ext cx="54864" cy="365760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89320" y="1051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89320" y="1463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233C"/>
                </a:solidFill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A8B2C0"/>
                </a:solidFill>
              </a:rPr>
              <a:t>Clear separation between Benign (blue) and Malignant (red) clusters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989320" y="204825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233C"/>
                </a:solidFill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A8B2C0"/>
                </a:solidFill>
              </a:rPr>
              <a:t>Malignant tumors occupy higher radius and area space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89320" y="263347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233C"/>
                </a:solidFill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A8B2C0"/>
                </a:solidFill>
              </a:rPr>
              <a:t>Some overlap region exists — justifying ML model over simple threshold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89320" y="32186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233C"/>
                </a:solidFill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A8B2C0"/>
                </a:solidFill>
              </a:rPr>
              <a:t>Strong linear trend between radius_mean and area_mean confirms collinearity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989320" y="380390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233C"/>
                </a:solidFill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A8B2C0"/>
                </a:solidFill>
              </a:rPr>
              <a:t>This pattern repeats across most shape features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B2C0"/>
                </a:solidFill>
              </a:rPr>
              <a:t>BREAST CANCER ANALYTICS  •  CONCLUSION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7498080" y="-457200"/>
            <a:ext cx="2011680" cy="2011680"/>
          </a:xfrm>
          <a:prstGeom prst="ellipse">
            <a:avLst/>
          </a:prstGeom>
          <a:solidFill>
            <a:srgbClr val="1A0A0F"/>
          </a:solidFill>
          <a:ln w="12700">
            <a:solidFill>
              <a:srgbClr val="1A0A0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65760" y="4206240"/>
            <a:ext cx="1463040" cy="1463040"/>
          </a:xfrm>
          <a:prstGeom prst="ellipse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34747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Conclusion &amp; Takeaways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2651760" cy="1783080"/>
          </a:xfrm>
          <a:prstGeom prst="rect">
            <a:avLst/>
          </a:prstGeom>
          <a:solidFill>
            <a:srgbClr val="15223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54864" cy="1783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70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Best Model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499616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Logistic Regression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Acc=97.4%, AUC=0.997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651760" cy="1783080"/>
          </a:xfrm>
          <a:prstGeom prst="rect">
            <a:avLst/>
          </a:prstGeom>
          <a:solidFill>
            <a:srgbClr val="152238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05840"/>
            <a:ext cx="54864" cy="178308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170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233C"/>
                </a:solidFill>
              </a:rPr>
              <a:t>Key Predictors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83280" y="1499616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concave points_worst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perimeter_worst, radius_worst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2651760" cy="1783080"/>
          </a:xfrm>
          <a:prstGeom prst="rect">
            <a:avLst/>
          </a:prstGeom>
          <a:solidFill>
            <a:srgbClr val="152238"/>
          </a:solidFill>
          <a:ln w="12700">
            <a:solidFill>
              <a:srgbClr val="F4D03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005840"/>
            <a:ext cx="54864" cy="178308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170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D03F"/>
                </a:solidFill>
              </a:rPr>
              <a:t>Feature Selection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09360" y="1499616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LASSO selects 23/30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features at λ=0.001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2651760" cy="1783080"/>
          </a:xfrm>
          <a:prstGeom prst="rect">
            <a:avLst/>
          </a:prstGeom>
          <a:solidFill>
            <a:srgbClr val="152238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017520"/>
            <a:ext cx="54864" cy="17830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182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</a:rPr>
              <a:t>Multicollinearity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3511296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High VIF in radius, area,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perimeter (use Ridge/LASSO)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0" y="3017520"/>
            <a:ext cx="2651760" cy="1783080"/>
          </a:xfrm>
          <a:prstGeom prst="rect">
            <a:avLst/>
          </a:prstGeom>
          <a:solidFill>
            <a:srgbClr val="152238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3017520"/>
            <a:ext cx="54864" cy="17830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3182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DE80"/>
                </a:solidFill>
              </a:rPr>
              <a:t>Clinical Insight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83280" y="3511296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Irregular cell shapes are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the strongest cancer signal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26480" y="3017520"/>
            <a:ext cx="2651760" cy="1783080"/>
          </a:xfrm>
          <a:prstGeom prst="rect">
            <a:avLst/>
          </a:prstGeom>
          <a:solidFill>
            <a:srgbClr val="152238"/>
          </a:solidFill>
          <a:ln w="12700">
            <a:solidFill>
              <a:srgbClr val="A8B2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3017520"/>
            <a:ext cx="54864" cy="1783080"/>
          </a:xfrm>
          <a:prstGeom prst="rect">
            <a:avLst/>
          </a:prstGeom>
          <a:solidFill>
            <a:srgbClr val="A8B2C0"/>
          </a:solidFill>
          <a:ln w="12700">
            <a:solidFill>
              <a:srgbClr val="A8B2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3182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B2C0"/>
                </a:solidFill>
              </a:rPr>
              <a:t>Dataset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09360" y="3511296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569 patients, no missing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data, well-structured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4736592"/>
            <a:ext cx="8595360" cy="320040"/>
          </a:xfrm>
          <a:prstGeom prst="rect">
            <a:avLst/>
          </a:prstGeom>
          <a:solidFill>
            <a:srgbClr val="06122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7640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2C0"/>
                </a:solidFill>
              </a:rPr>
              <a:t>Analysis by: Statistical Learning Methods  |  Dataset: UCI WDBC  |  Tools: Python · scikit-learn · Matplotlib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Breast Cancer Predictive Analytics</dc:title>
  <dc:subject>PptxGenJS Presentation</dc:subject>
  <dc:creator>PptxGenJS</dc:creator>
  <cp:lastModifiedBy>PptxGenJS</cp:lastModifiedBy>
  <cp:revision>1</cp:revision>
  <dcterms:created xsi:type="dcterms:W3CDTF">2026-05-04T04:28:22Z</dcterms:created>
  <dcterms:modified xsi:type="dcterms:W3CDTF">2026-05-04T04:28:22Z</dcterms:modified>
</cp:coreProperties>
</file>